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8FB"/>
          </a:solidFill>
        </a:fill>
      </a:tcStyle>
    </a:wholeTbl>
    <a:band2H>
      <a:tcTxStyle b="def" i="def"/>
      <a:tcStyle>
        <a:tcBdr/>
        <a:fill>
          <a:solidFill>
            <a:srgbClr val="E8EDFD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DBDE"/>
          </a:solidFill>
        </a:fill>
      </a:tcStyle>
    </a:wholeTbl>
    <a:band2H>
      <a:tcTxStyle b="def" i="def"/>
      <a:tcStyle>
        <a:tcBdr/>
        <a:fill>
          <a:solidFill>
            <a:srgbClr val="EBEEE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8FFCD"/>
          </a:solidFill>
        </a:fill>
      </a:tcStyle>
    </a:wholeTbl>
    <a:band2H>
      <a:tcTxStyle b="def" i="def"/>
      <a:tcStyle>
        <a:tcBdr/>
        <a:fill>
          <a:solidFill>
            <a:srgbClr val="FCFF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7" name="Shape 10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j-lt"/>
        <a:ea typeface="+mj-ea"/>
        <a:cs typeface="+mj-cs"/>
        <a:sym typeface="Arial"/>
      </a:defRPr>
    </a:lvl1pPr>
    <a:lvl2pPr indent="228600" latinLnBrk="0">
      <a:defRPr sz="1400">
        <a:latin typeface="+mj-lt"/>
        <a:ea typeface="+mj-ea"/>
        <a:cs typeface="+mj-cs"/>
        <a:sym typeface="Arial"/>
      </a:defRPr>
    </a:lvl2pPr>
    <a:lvl3pPr indent="457200" latinLnBrk="0">
      <a:defRPr sz="1400">
        <a:latin typeface="+mj-lt"/>
        <a:ea typeface="+mj-ea"/>
        <a:cs typeface="+mj-cs"/>
        <a:sym typeface="Arial"/>
      </a:defRPr>
    </a:lvl3pPr>
    <a:lvl4pPr indent="685800" latinLnBrk="0">
      <a:defRPr sz="1400">
        <a:latin typeface="+mj-lt"/>
        <a:ea typeface="+mj-ea"/>
        <a:cs typeface="+mj-cs"/>
        <a:sym typeface="Arial"/>
      </a:defRPr>
    </a:lvl4pPr>
    <a:lvl5pPr indent="914400" latinLnBrk="0">
      <a:defRPr sz="1400">
        <a:latin typeface="+mj-lt"/>
        <a:ea typeface="+mj-ea"/>
        <a:cs typeface="+mj-cs"/>
        <a:sym typeface="Arial"/>
      </a:defRPr>
    </a:lvl5pPr>
    <a:lvl6pPr indent="1143000" latinLnBrk="0">
      <a:defRPr sz="1400">
        <a:latin typeface="+mj-lt"/>
        <a:ea typeface="+mj-ea"/>
        <a:cs typeface="+mj-cs"/>
        <a:sym typeface="Arial"/>
      </a:defRPr>
    </a:lvl6pPr>
    <a:lvl7pPr indent="1371600" latinLnBrk="0">
      <a:defRPr sz="1400">
        <a:latin typeface="+mj-lt"/>
        <a:ea typeface="+mj-ea"/>
        <a:cs typeface="+mj-cs"/>
        <a:sym typeface="Arial"/>
      </a:defRPr>
    </a:lvl7pPr>
    <a:lvl8pPr indent="1600200" latinLnBrk="0">
      <a:defRPr sz="1400">
        <a:latin typeface="+mj-lt"/>
        <a:ea typeface="+mj-ea"/>
        <a:cs typeface="+mj-cs"/>
        <a:sym typeface="Arial"/>
      </a:defRPr>
    </a:lvl8pPr>
    <a:lvl9pPr indent="1828800" latinLnBrk="0">
      <a:defRPr sz="14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311708" y="744574"/>
            <a:ext cx="8520601" cy="2052601"/>
          </a:xfrm>
          <a:prstGeom prst="rect">
            <a:avLst/>
          </a:prstGeom>
        </p:spPr>
        <p:txBody>
          <a:bodyPr anchor="b"/>
          <a:lstStyle>
            <a:lvl1pPr algn="ctr">
              <a:defRPr sz="52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311699" y="2834125"/>
            <a:ext cx="8520602" cy="792601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2800"/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2800"/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2800"/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2800"/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311699" y="2150849"/>
            <a:ext cx="8520602" cy="841801"/>
          </a:xfrm>
          <a:prstGeom prst="rect">
            <a:avLst/>
          </a:prstGeom>
        </p:spPr>
        <p:txBody>
          <a:bodyPr anchor="ctr"/>
          <a:lstStyle>
            <a:lvl1pPr algn="ctr">
              <a:defRPr sz="3600"/>
            </a:lvl1pPr>
          </a:lstStyle>
          <a:p>
            <a:pPr/>
            <a:r>
              <a:t>Title Text</a:t>
            </a:r>
          </a:p>
        </p:txBody>
      </p:sp>
      <p:sp>
        <p:nvSpPr>
          <p:cNvPr id="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9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8" name="Body Level One…"/>
          <p:cNvSpPr txBox="1"/>
          <p:nvPr>
            <p:ph type="body" sz="half" idx="1"/>
          </p:nvPr>
        </p:nvSpPr>
        <p:spPr>
          <a:xfrm>
            <a:off x="311699" y="1152475"/>
            <a:ext cx="3999902" cy="3416400"/>
          </a:xfrm>
          <a:prstGeom prst="rect">
            <a:avLst/>
          </a:prstGeom>
        </p:spPr>
        <p:txBody>
          <a:bodyPr/>
          <a:lstStyle>
            <a:lvl1pPr indent="-317500">
              <a:buSzPts val="1400"/>
              <a:defRPr sz="1400"/>
            </a:lvl1pPr>
            <a:lvl2pPr marL="965200" indent="-355600">
              <a:buSzPts val="1400"/>
              <a:defRPr sz="1400"/>
            </a:lvl2pPr>
            <a:lvl3pPr marL="1422400" indent="-355600">
              <a:buSzPts val="1400"/>
              <a:defRPr sz="1400"/>
            </a:lvl3pPr>
            <a:lvl4pPr marL="1879600" indent="-355600">
              <a:buSzPts val="1400"/>
              <a:defRPr sz="1400"/>
            </a:lvl4pPr>
            <a:lvl5pPr marL="2336800" indent="-355600">
              <a:buSzPts val="1400"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" name="Google Shape;23;p5"/>
          <p:cNvSpPr txBox="1"/>
          <p:nvPr>
            <p:ph type="body" sz="half" idx="21"/>
          </p:nvPr>
        </p:nvSpPr>
        <p:spPr>
          <a:xfrm>
            <a:off x="4832399" y="1152475"/>
            <a:ext cx="3999902" cy="3416400"/>
          </a:xfrm>
          <a:prstGeom prst="rect">
            <a:avLst/>
          </a:prstGeom>
        </p:spPr>
        <p:txBody>
          <a:bodyPr/>
          <a:lstStyle/>
          <a:p>
            <a:pPr indent="-317500">
              <a:buSzPts val="1400"/>
              <a:defRPr sz="1400"/>
            </a:pP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Text"/>
          <p:cNvSpPr txBox="1"/>
          <p:nvPr>
            <p:ph type="title"/>
          </p:nvPr>
        </p:nvSpPr>
        <p:spPr>
          <a:xfrm>
            <a:off x="311699" y="555600"/>
            <a:ext cx="2808001" cy="7557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pPr/>
            <a:r>
              <a:t>Title Text</a:t>
            </a:r>
          </a:p>
        </p:txBody>
      </p:sp>
      <p:sp>
        <p:nvSpPr>
          <p:cNvPr id="56" name="Body Level One…"/>
          <p:cNvSpPr txBox="1"/>
          <p:nvPr>
            <p:ph type="body" sz="quarter" idx="1"/>
          </p:nvPr>
        </p:nvSpPr>
        <p:spPr>
          <a:xfrm>
            <a:off x="311699" y="1389599"/>
            <a:ext cx="2808001" cy="3179401"/>
          </a:xfrm>
          <a:prstGeom prst="rect">
            <a:avLst/>
          </a:prstGeom>
        </p:spPr>
        <p:txBody>
          <a:bodyPr/>
          <a:lstStyle>
            <a:lvl1pPr indent="-304800">
              <a:buSzPts val="1200"/>
              <a:defRPr sz="1200"/>
            </a:lvl1pPr>
            <a:lvl2pPr marL="914400" indent="-304800">
              <a:buSzPts val="1200"/>
              <a:defRPr sz="1200"/>
            </a:lvl2pPr>
            <a:lvl3pPr marL="1371600" indent="-304800">
              <a:buSzPts val="1200"/>
              <a:defRPr sz="1200"/>
            </a:lvl3pPr>
            <a:lvl4pPr marL="1828800" indent="-304800">
              <a:buSzPts val="1200"/>
              <a:defRPr sz="1200"/>
            </a:lvl4pPr>
            <a:lvl5pPr marL="2286000" indent="-304800">
              <a:buSzPts val="1200"/>
              <a:defRPr sz="1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Text"/>
          <p:cNvSpPr txBox="1"/>
          <p:nvPr>
            <p:ph type="title"/>
          </p:nvPr>
        </p:nvSpPr>
        <p:spPr>
          <a:xfrm>
            <a:off x="490250" y="450149"/>
            <a:ext cx="6367801" cy="4090801"/>
          </a:xfrm>
          <a:prstGeom prst="rect">
            <a:avLst/>
          </a:prstGeom>
        </p:spPr>
        <p:txBody>
          <a:bodyPr anchor="ctr"/>
          <a:lstStyle>
            <a:lvl1pPr>
              <a:defRPr sz="4800"/>
            </a:lvl1pPr>
          </a:lstStyle>
          <a:p>
            <a:pPr/>
            <a:r>
              <a:t>Title Text</a:t>
            </a:r>
          </a:p>
        </p:txBody>
      </p:sp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36;p9"/>
          <p:cNvSpPr/>
          <p:nvPr/>
        </p:nvSpPr>
        <p:spPr>
          <a:xfrm>
            <a:off x="4572000" y="-125"/>
            <a:ext cx="4572000" cy="5143501"/>
          </a:xfrm>
          <a:prstGeom prst="rect">
            <a:avLst/>
          </a:prstGeom>
          <a:solidFill>
            <a:srgbClr val="EEEEEE"/>
          </a:solidFill>
          <a:ln w="12700">
            <a:miter lim="400000"/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73" name="Title Text"/>
          <p:cNvSpPr txBox="1"/>
          <p:nvPr>
            <p:ph type="title"/>
          </p:nvPr>
        </p:nvSpPr>
        <p:spPr>
          <a:xfrm>
            <a:off x="265500" y="1233175"/>
            <a:ext cx="4045200" cy="1482301"/>
          </a:xfrm>
          <a:prstGeom prst="rect">
            <a:avLst/>
          </a:prstGeom>
        </p:spPr>
        <p:txBody>
          <a:bodyPr anchor="b"/>
          <a:lstStyle>
            <a:lvl1pPr algn="ctr">
              <a:defRPr sz="4200"/>
            </a:lvl1pPr>
          </a:lstStyle>
          <a:p>
            <a:pPr/>
            <a:r>
              <a:t>Title Text</a:t>
            </a:r>
          </a:p>
        </p:txBody>
      </p:sp>
      <p:sp>
        <p:nvSpPr>
          <p:cNvPr id="74" name="Body Level One…"/>
          <p:cNvSpPr txBox="1"/>
          <p:nvPr>
            <p:ph type="body" sz="quarter" idx="1"/>
          </p:nvPr>
        </p:nvSpPr>
        <p:spPr>
          <a:xfrm>
            <a:off x="265500" y="2803075"/>
            <a:ext cx="4045200" cy="1235101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2100"/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2100"/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2100"/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2100"/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21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5" name="Google Shape;39;p9"/>
          <p:cNvSpPr txBox="1"/>
          <p:nvPr>
            <p:ph type="body" sz="half" idx="21"/>
          </p:nvPr>
        </p:nvSpPr>
        <p:spPr>
          <a:xfrm>
            <a:off x="4939500" y="724074"/>
            <a:ext cx="3837000" cy="3695102"/>
          </a:xfrm>
          <a:prstGeom prst="rect">
            <a:avLst/>
          </a:prstGeom>
        </p:spPr>
        <p:txBody>
          <a:bodyPr anchor="ctr"/>
          <a:lstStyle/>
          <a:p>
            <a:pPr/>
          </a:p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Body Level One…"/>
          <p:cNvSpPr txBox="1"/>
          <p:nvPr>
            <p:ph type="body" sz="quarter" idx="1"/>
          </p:nvPr>
        </p:nvSpPr>
        <p:spPr>
          <a:xfrm>
            <a:off x="311699" y="4230575"/>
            <a:ext cx="5998802" cy="605101"/>
          </a:xfrm>
          <a:prstGeom prst="rect">
            <a:avLst/>
          </a:prstGeom>
        </p:spPr>
        <p:txBody>
          <a:bodyPr anchor="ctr"/>
          <a:lstStyle>
            <a:lvl1pPr marL="228600" indent="0">
              <a:lnSpc>
                <a:spcPct val="100000"/>
              </a:lnSpc>
              <a:buClrTx/>
              <a:buSzTx/>
              <a:buFontTx/>
              <a:buNone/>
            </a:lvl1pPr>
            <a:lvl2pPr>
              <a:lnSpc>
                <a:spcPct val="100000"/>
              </a:lnSpc>
              <a:buClrTx/>
              <a:buFontTx/>
            </a:lvl2pPr>
            <a:lvl3pPr>
              <a:lnSpc>
                <a:spcPct val="100000"/>
              </a:lnSpc>
              <a:buClrTx/>
              <a:buFontTx/>
            </a:lvl3pPr>
            <a:lvl4pPr>
              <a:lnSpc>
                <a:spcPct val="100000"/>
              </a:lnSpc>
              <a:buClrTx/>
              <a:buFontTx/>
            </a:lvl4pPr>
            <a:lvl5pPr>
              <a:lnSpc>
                <a:spcPct val="100000"/>
              </a:lnSpc>
              <a:buClrTx/>
              <a:buFontTx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xx%"/>
          <p:cNvSpPr txBox="1"/>
          <p:nvPr>
            <p:ph type="title" hasCustomPrompt="1"/>
          </p:nvPr>
        </p:nvSpPr>
        <p:spPr>
          <a:xfrm>
            <a:off x="311699" y="1106125"/>
            <a:ext cx="8520602" cy="1963500"/>
          </a:xfrm>
          <a:prstGeom prst="rect">
            <a:avLst/>
          </a:prstGeom>
        </p:spPr>
        <p:txBody>
          <a:bodyPr anchor="b"/>
          <a:lstStyle>
            <a:lvl1pPr algn="ctr">
              <a:defRPr sz="12000"/>
            </a:lvl1pPr>
          </a:lstStyle>
          <a:p>
            <a:pPr/>
            <a:r>
              <a:t>xx%</a:t>
            </a:r>
          </a:p>
        </p:txBody>
      </p:sp>
      <p:sp>
        <p:nvSpPr>
          <p:cNvPr id="92" name="Body Level One…"/>
          <p:cNvSpPr txBox="1"/>
          <p:nvPr>
            <p:ph type="body" sz="half" idx="1"/>
          </p:nvPr>
        </p:nvSpPr>
        <p:spPr>
          <a:xfrm>
            <a:off x="311699" y="3152225"/>
            <a:ext cx="8520602" cy="130080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algn="ctr"/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311699" y="1152475"/>
            <a:ext cx="8520602" cy="341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684345" y="4700819"/>
            <a:ext cx="336814" cy="318396"/>
          </a:xfrm>
          <a:prstGeom prst="rect">
            <a:avLst/>
          </a:prstGeom>
          <a:ln w="12700">
            <a:miter lim="400000"/>
          </a:ln>
        </p:spPr>
        <p:txBody>
          <a:bodyPr wrap="none" lIns="91424" tIns="91424" rIns="91424" bIns="91424" anchor="ctr">
            <a:normAutofit fontScale="100000" lnSpcReduction="0"/>
          </a:bodyPr>
          <a:lstStyle>
            <a:lvl1pPr algn="r">
              <a:defRPr sz="10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titleStyle>
    <p:bodyStyle>
      <a:lvl1pPr marL="457200" marR="0" indent="-34290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1pPr>
      <a:lvl2pPr marL="10051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2pPr>
      <a:lvl3pPr marL="14623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3pPr>
      <a:lvl4pPr marL="19195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4pPr>
      <a:lvl5pPr marL="23767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5pPr>
      <a:lvl6pPr marL="28339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6pPr>
      <a:lvl7pPr marL="32911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7pPr>
      <a:lvl8pPr marL="37483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8pPr>
      <a:lvl9pPr marL="42055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F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Background"/>
          <p:cNvSpPr/>
          <p:nvPr/>
        </p:nvSpPr>
        <p:spPr>
          <a:xfrm>
            <a:off x="0" y="0"/>
            <a:ext cx="9144000" cy="5143500"/>
          </a:xfrm>
          <a:prstGeom prst="roundRect">
            <a:avLst>
              <a:gd name="adj" fmla="val 16667"/>
            </a:avLst>
          </a:prstGeom>
          <a:solidFill>
            <a:srgbClr val="0B1F33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 sz="100"/>
            </a:pPr>
          </a:p>
        </p:txBody>
      </p:sp>
      <p:grpSp>
        <p:nvGrpSpPr>
          <p:cNvPr id="112" name="Title"/>
          <p:cNvGrpSpPr/>
          <p:nvPr/>
        </p:nvGrpSpPr>
        <p:grpSpPr>
          <a:xfrm>
            <a:off x="329999" y="179999"/>
            <a:ext cx="8480002" cy="430002"/>
            <a:chOff x="0" y="0"/>
            <a:chExt cx="8480000" cy="430000"/>
          </a:xfrm>
        </p:grpSpPr>
        <p:sp>
          <p:nvSpPr>
            <p:cNvPr id="110" name="Rounded Rectangle"/>
            <p:cNvSpPr/>
            <p:nvPr/>
          </p:nvSpPr>
          <p:spPr>
            <a:xfrm>
              <a:off x="0" y="0"/>
              <a:ext cx="8480001" cy="430001"/>
            </a:xfrm>
            <a:prstGeom prst="roundRect">
              <a:avLst>
                <a:gd name="adj" fmla="val 16667"/>
              </a:avLst>
            </a:prstGeom>
            <a:solidFill>
              <a:srgbClr val="0B1F3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111" name="ЗАПУСК 15 ОКТЯБРЯ С МОДУЛЬНЫМ ЯДРОМ"/>
            <p:cNvSpPr txBox="1"/>
            <p:nvPr/>
          </p:nvSpPr>
          <p:spPr>
            <a:xfrm>
              <a:off x="20990" y="20990"/>
              <a:ext cx="8438020" cy="3880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rmAutofit fontScale="100000" lnSpcReduction="0"/>
            </a:bodyPr>
            <a:lstStyle>
              <a:lvl1pPr>
                <a:defRPr b="1" sz="2400">
                  <a:solidFill>
                    <a:srgbClr val="FFFFFF"/>
                  </a:solidFill>
                </a:defRPr>
              </a:lvl1pPr>
            </a:lstStyle>
            <a:p>
              <a:pPr/>
              <a:r>
                <a:t>ЗАПУСК 15 ОКТЯБРЯ С МОДУЛЬНЫМ ЯДРОМ</a:t>
              </a:r>
            </a:p>
          </p:txBody>
        </p:sp>
      </p:grpSp>
      <p:grpSp>
        <p:nvGrpSpPr>
          <p:cNvPr id="115" name="Subtitle"/>
          <p:cNvGrpSpPr/>
          <p:nvPr/>
        </p:nvGrpSpPr>
        <p:grpSpPr>
          <a:xfrm>
            <a:off x="329999" y="610000"/>
            <a:ext cx="8480002" cy="300001"/>
            <a:chOff x="0" y="0"/>
            <a:chExt cx="8480000" cy="300000"/>
          </a:xfrm>
        </p:grpSpPr>
        <p:sp>
          <p:nvSpPr>
            <p:cNvPr id="113" name="Rounded Rectangle"/>
            <p:cNvSpPr/>
            <p:nvPr/>
          </p:nvSpPr>
          <p:spPr>
            <a:xfrm>
              <a:off x="0" y="0"/>
              <a:ext cx="8480001" cy="300001"/>
            </a:xfrm>
            <a:prstGeom prst="roundRect">
              <a:avLst>
                <a:gd name="adj" fmla="val 16667"/>
              </a:avLst>
            </a:prstGeom>
            <a:solidFill>
              <a:srgbClr val="0B1F3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200"/>
              </a:pPr>
            </a:p>
          </p:txBody>
        </p:sp>
        <p:sp>
          <p:nvSpPr>
            <p:cNvPr id="114" name="Купить время, а не привязку к вендору • аналитическая записка для Найроби"/>
            <p:cNvSpPr txBox="1"/>
            <p:nvPr/>
          </p:nvSpPr>
          <p:spPr>
            <a:xfrm>
              <a:off x="14645" y="14644"/>
              <a:ext cx="8450710" cy="2707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rmAutofit fontScale="100000" lnSpcReduction="0"/>
            </a:bodyPr>
            <a:lstStyle>
              <a:lvl1pPr>
                <a:defRPr sz="1200">
                  <a:solidFill>
                    <a:srgbClr val="B8CCE4"/>
                  </a:solidFill>
                </a:defRPr>
              </a:lvl1pPr>
            </a:lstStyle>
            <a:p>
              <a:pPr/>
              <a:r>
                <a:t>Купить время, а не привязку к вендору • аналитическая записка для Найроби</a:t>
              </a:r>
            </a:p>
          </p:txBody>
        </p:sp>
      </p:grpSp>
      <p:grpSp>
        <p:nvGrpSpPr>
          <p:cNvPr id="118" name="Decision"/>
          <p:cNvGrpSpPr/>
          <p:nvPr/>
        </p:nvGrpSpPr>
        <p:grpSpPr>
          <a:xfrm>
            <a:off x="329999" y="1049999"/>
            <a:ext cx="2520002" cy="2060001"/>
            <a:chOff x="0" y="0"/>
            <a:chExt cx="2520000" cy="2060000"/>
          </a:xfrm>
        </p:grpSpPr>
        <p:sp>
          <p:nvSpPr>
            <p:cNvPr id="116" name="Rounded Rectangle"/>
            <p:cNvSpPr/>
            <p:nvPr/>
          </p:nvSpPr>
          <p:spPr>
            <a:xfrm>
              <a:off x="0" y="0"/>
              <a:ext cx="2520001" cy="2060001"/>
            </a:xfrm>
            <a:prstGeom prst="roundRect">
              <a:avLst>
                <a:gd name="adj" fmla="val 16667"/>
              </a:avLst>
            </a:prstGeom>
            <a:solidFill>
              <a:srgbClr val="D9EAF7"/>
            </a:solidFill>
            <a:ln w="12700" cap="flat">
              <a:solidFill>
                <a:srgbClr val="5B9BD5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200"/>
              </a:pPr>
            </a:p>
          </p:txBody>
        </p:sp>
        <p:sp>
          <p:nvSpPr>
            <p:cNvPr id="117" name="РЕШЕНИЕ…"/>
            <p:cNvSpPr txBox="1"/>
            <p:nvPr/>
          </p:nvSpPr>
          <p:spPr>
            <a:xfrm>
              <a:off x="106910" y="106910"/>
              <a:ext cx="2306180" cy="18461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9999" tIns="109999" rIns="109999" bIns="109999" numCol="1" anchor="t">
              <a:normAutofit fontScale="100000" lnSpcReduction="0"/>
            </a:bodyPr>
            <a:lstStyle/>
            <a:p>
              <a:pPr>
                <a:defRPr b="1" sz="1200">
                  <a:solidFill>
                    <a:srgbClr val="17365D"/>
                  </a:solidFill>
                </a:defRPr>
              </a:pPr>
              <a:r>
                <a:t>РЕШЕНИЕ</a:t>
              </a:r>
            </a:p>
            <a:p>
              <a:pPr>
                <a:defRPr sz="1200">
                  <a:solidFill>
                    <a:srgbClr val="17365D"/>
                  </a:solidFill>
                </a:defRPr>
              </a:pPr>
              <a:r>
                <a:t>Модульный монолит</a:t>
              </a:r>
            </a:p>
            <a:p>
              <a:pPr>
                <a:defRPr sz="1200">
                  <a:solidFill>
                    <a:srgbClr val="17365D"/>
                  </a:solidFill>
                </a:defRPr>
              </a:pPr>
              <a:r>
                <a:t>Управляемая PostgreSQL</a:t>
              </a:r>
            </a:p>
            <a:p>
              <a:pPr>
                <a:defRPr sz="1200">
                  <a:solidFill>
                    <a:srgbClr val="17365D"/>
                  </a:solidFill>
                </a:defRPr>
              </a:pPr>
              <a:r>
                <a:t>Outbox + простая очередь</a:t>
              </a:r>
            </a:p>
            <a:p>
              <a:pPr>
                <a:defRPr sz="1200">
                  <a:solidFill>
                    <a:srgbClr val="17365D"/>
                  </a:solidFill>
                </a:defRPr>
              </a:pPr>
              <a:r>
                <a:t>Адаптеры для платежей и логистики</a:t>
              </a:r>
            </a:p>
            <a:p>
              <a:pPr>
                <a:defRPr sz="1200">
                  <a:solidFill>
                    <a:srgbClr val="17365D"/>
                  </a:solidFill>
                </a:defRPr>
              </a:pPr>
            </a:p>
            <a:p>
              <a:pPr>
                <a:defRPr sz="1200">
                  <a:solidFill>
                    <a:srgbClr val="17365D"/>
                  </a:solidFill>
                </a:defRPr>
              </a:pPr>
              <a:r>
                <a:t>MVP: browse → order → pay → fulfill → notify</a:t>
              </a:r>
            </a:p>
          </p:txBody>
        </p:sp>
      </p:grpSp>
      <p:grpSp>
        <p:nvGrpSpPr>
          <p:cNvPr id="121" name="Numbers"/>
          <p:cNvGrpSpPr/>
          <p:nvPr/>
        </p:nvGrpSpPr>
        <p:grpSpPr>
          <a:xfrm>
            <a:off x="3309999" y="1049999"/>
            <a:ext cx="2751939" cy="2060001"/>
            <a:chOff x="0" y="0"/>
            <a:chExt cx="2751937" cy="2060000"/>
          </a:xfrm>
        </p:grpSpPr>
        <p:sp>
          <p:nvSpPr>
            <p:cNvPr id="119" name="Rounded Rectangle"/>
            <p:cNvSpPr/>
            <p:nvPr/>
          </p:nvSpPr>
          <p:spPr>
            <a:xfrm>
              <a:off x="0" y="0"/>
              <a:ext cx="2751938" cy="2060001"/>
            </a:xfrm>
            <a:prstGeom prst="roundRect">
              <a:avLst>
                <a:gd name="adj" fmla="val 16667"/>
              </a:avLst>
            </a:prstGeom>
            <a:solidFill>
              <a:srgbClr val="E2F0D9"/>
            </a:solidFill>
            <a:ln w="12700" cap="flat">
              <a:solidFill>
                <a:srgbClr val="70AD4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200"/>
              </a:pPr>
            </a:p>
          </p:txBody>
        </p:sp>
        <p:sp>
          <p:nvSpPr>
            <p:cNvPr id="120" name="ЧИСЛА…"/>
            <p:cNvSpPr txBox="1"/>
            <p:nvPr/>
          </p:nvSpPr>
          <p:spPr>
            <a:xfrm>
              <a:off x="106910" y="106910"/>
              <a:ext cx="2501336" cy="18461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9999" tIns="109999" rIns="109999" bIns="109999" numCol="1" anchor="t">
              <a:normAutofit fontScale="100000" lnSpcReduction="0"/>
            </a:bodyPr>
            <a:lstStyle/>
            <a:p>
              <a:pPr defTabSz="877823">
                <a:defRPr b="1" sz="1152">
                  <a:solidFill>
                    <a:srgbClr val="1F4E2C"/>
                  </a:solidFill>
                </a:defRPr>
              </a:pPr>
              <a:r>
                <a:t>ЧИСЛА</a:t>
              </a:r>
            </a:p>
            <a:p>
              <a:pPr defTabSz="877823">
                <a:defRPr sz="1152">
                  <a:solidFill>
                    <a:srgbClr val="1F4E2C"/>
                  </a:solidFill>
                </a:defRPr>
              </a:pPr>
              <a:r>
                <a:t>6–8 недель • 6 человек</a:t>
              </a:r>
            </a:p>
            <a:p>
              <a:pPr defTabSz="877823">
                <a:defRPr sz="1152">
                  <a:solidFill>
                    <a:srgbClr val="1F4E2C"/>
                  </a:solidFill>
                </a:defRPr>
              </a:pPr>
              <a:r>
                <a:t>$4,850 в месяц</a:t>
              </a:r>
            </a:p>
            <a:p>
              <a:pPr defTabSz="877823">
                <a:defRPr sz="1152">
                  <a:solidFill>
                    <a:srgbClr val="1F4E2C"/>
                  </a:solidFill>
                </a:defRPr>
              </a:pPr>
              <a:r>
                <a:t>$42.51млн 5Y TCO</a:t>
              </a:r>
            </a:p>
            <a:p>
              <a:pPr defTabSz="877823">
                <a:defRPr sz="1152">
                  <a:solidFill>
                    <a:srgbClr val="1F4E2C"/>
                  </a:solidFill>
                </a:defRPr>
              </a:pPr>
              <a:r>
                <a:t>$3.13 Y1 / $1.12 на заказ</a:t>
              </a:r>
            </a:p>
            <a:p>
              <a:pPr defTabSz="877823">
                <a:defRPr sz="1152">
                  <a:solidFill>
                    <a:srgbClr val="1F4E2C"/>
                  </a:solidFill>
                </a:defRPr>
              </a:pPr>
              <a:r>
                <a:t>$0.34млн возможные издержки</a:t>
              </a:r>
            </a:p>
            <a:p>
              <a:pPr defTabSz="877823">
                <a:defRPr sz="1152">
                  <a:solidFill>
                    <a:srgbClr val="1F4E2C"/>
                  </a:solidFill>
                </a:defRPr>
              </a:pPr>
            </a:p>
            <a:p>
              <a:pPr defTabSz="877823">
                <a:defRPr sz="1152">
                  <a:solidFill>
                    <a:srgbClr val="1F4E2C"/>
                  </a:solidFill>
                </a:defRPr>
              </a:pPr>
              <a:r>
                <a:t>Е</a:t>
              </a:r>
              <a:r>
                <a:t>динственный вариант, соответствующий срокам, штату и бюджету</a:t>
              </a:r>
            </a:p>
          </p:txBody>
        </p:sp>
      </p:grpSp>
      <p:grpSp>
        <p:nvGrpSpPr>
          <p:cNvPr id="124" name="Defer"/>
          <p:cNvGrpSpPr/>
          <p:nvPr/>
        </p:nvGrpSpPr>
        <p:grpSpPr>
          <a:xfrm>
            <a:off x="6290000" y="1049999"/>
            <a:ext cx="2520001" cy="2060001"/>
            <a:chOff x="0" y="0"/>
            <a:chExt cx="2520000" cy="2060000"/>
          </a:xfrm>
        </p:grpSpPr>
        <p:sp>
          <p:nvSpPr>
            <p:cNvPr id="122" name="Rounded Rectangle"/>
            <p:cNvSpPr/>
            <p:nvPr/>
          </p:nvSpPr>
          <p:spPr>
            <a:xfrm>
              <a:off x="0" y="0"/>
              <a:ext cx="2520001" cy="2060001"/>
            </a:xfrm>
            <a:prstGeom prst="roundRect">
              <a:avLst>
                <a:gd name="adj" fmla="val 16667"/>
              </a:avLst>
            </a:prstGeom>
            <a:solidFill>
              <a:srgbClr val="FCE4D6"/>
            </a:solidFill>
            <a:ln w="12700" cap="flat">
              <a:solidFill>
                <a:srgbClr val="ED7D3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200"/>
              </a:pPr>
            </a:p>
          </p:txBody>
        </p:sp>
        <p:sp>
          <p:nvSpPr>
            <p:cNvPr id="123" name="НА ВЫРОСТ…"/>
            <p:cNvSpPr txBox="1"/>
            <p:nvPr/>
          </p:nvSpPr>
          <p:spPr>
            <a:xfrm>
              <a:off x="106910" y="106910"/>
              <a:ext cx="2306180" cy="18461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9999" tIns="109999" rIns="109999" bIns="109999" numCol="1" anchor="t">
              <a:normAutofit fontScale="100000" lnSpcReduction="0"/>
            </a:bodyPr>
            <a:lstStyle/>
            <a:p>
              <a:pPr defTabSz="795527">
                <a:defRPr b="1" sz="1044">
                  <a:solidFill>
                    <a:srgbClr val="843C0C"/>
                  </a:solidFill>
                </a:defRPr>
              </a:pPr>
              <a:r>
                <a:t>НА ВЫРОСТ</a:t>
              </a:r>
            </a:p>
            <a:p>
              <a:pPr defTabSz="795527">
                <a:defRPr sz="1044">
                  <a:solidFill>
                    <a:srgbClr val="843C0C"/>
                  </a:solidFill>
                </a:defRPr>
              </a:pPr>
              <a:r>
                <a:t>40–50 сервисов</a:t>
              </a:r>
            </a:p>
            <a:p>
              <a:pPr defTabSz="795527">
                <a:defRPr sz="1044">
                  <a:solidFill>
                    <a:srgbClr val="843C0C"/>
                  </a:solidFill>
                </a:defRPr>
              </a:pPr>
              <a:r>
                <a:t>Kafka и service mesh</a:t>
              </a:r>
            </a:p>
            <a:p>
              <a:pPr defTabSz="795527">
                <a:defRPr sz="1044">
                  <a:solidFill>
                    <a:srgbClr val="843C0C"/>
                  </a:solidFill>
                </a:defRPr>
              </a:pPr>
              <a:r>
                <a:t>Oracle и self-hosted data</a:t>
              </a:r>
            </a:p>
            <a:p>
              <a:pPr defTabSz="795527">
                <a:defRPr sz="1044">
                  <a:solidFill>
                    <a:srgbClr val="843C0C"/>
                  </a:solidFill>
                </a:defRPr>
              </a:pPr>
              <a:r>
                <a:t>Active-active multi-cloud</a:t>
              </a:r>
            </a:p>
            <a:p>
              <a:pPr defTabSz="795527">
                <a:defRPr sz="1044">
                  <a:solidFill>
                    <a:srgbClr val="843C0C"/>
                  </a:solidFill>
                </a:defRPr>
              </a:pPr>
              <a:r>
                <a:t>Собственные платежные и логистические шлюзы</a:t>
              </a:r>
            </a:p>
            <a:p>
              <a:pPr defTabSz="795527">
                <a:defRPr sz="1044">
                  <a:solidFill>
                    <a:srgbClr val="843C0C"/>
                  </a:solidFill>
                </a:defRPr>
              </a:pPr>
            </a:p>
            <a:p>
              <a:pPr defTabSz="795527">
                <a:defRPr sz="1044">
                  <a:solidFill>
                    <a:srgbClr val="843C0C"/>
                  </a:solidFill>
                </a:defRPr>
              </a:pPr>
              <a:r>
                <a:t>Привязка только на основе измеримых показателей или регуляторных требований</a:t>
              </a:r>
            </a:p>
          </p:txBody>
        </p:sp>
      </p:grpSp>
      <p:grpSp>
        <p:nvGrpSpPr>
          <p:cNvPr id="127" name="Evolution"/>
          <p:cNvGrpSpPr/>
          <p:nvPr/>
        </p:nvGrpSpPr>
        <p:grpSpPr>
          <a:xfrm>
            <a:off x="450000" y="3399999"/>
            <a:ext cx="8240001" cy="340001"/>
            <a:chOff x="0" y="0"/>
            <a:chExt cx="8240000" cy="340000"/>
          </a:xfrm>
        </p:grpSpPr>
        <p:sp>
          <p:nvSpPr>
            <p:cNvPr id="125" name="Rounded Rectangle"/>
            <p:cNvSpPr/>
            <p:nvPr/>
          </p:nvSpPr>
          <p:spPr>
            <a:xfrm>
              <a:off x="0" y="0"/>
              <a:ext cx="8240001" cy="340001"/>
            </a:xfrm>
            <a:prstGeom prst="roundRect">
              <a:avLst>
                <a:gd name="adj" fmla="val 16667"/>
              </a:avLst>
            </a:prstGeom>
            <a:solidFill>
              <a:srgbClr val="0B1F3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200"/>
              </a:pPr>
            </a:p>
          </p:txBody>
        </p:sp>
        <p:sp>
          <p:nvSpPr>
            <p:cNvPr id="126" name="MVP modular core        →        extract measured hotspots        →        country cells / regional platform"/>
            <p:cNvSpPr txBox="1"/>
            <p:nvPr/>
          </p:nvSpPr>
          <p:spPr>
            <a:xfrm>
              <a:off x="16596" y="16596"/>
              <a:ext cx="8206808" cy="3068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rmAutofit fontScale="100000" lnSpcReduction="0"/>
            </a:bodyPr>
            <a:lstStyle>
              <a:lvl1pPr>
                <a:defRPr b="1" sz="1200">
                  <a:solidFill>
                    <a:srgbClr val="DDEBF7"/>
                  </a:solidFill>
                </a:defRPr>
              </a:lvl1pPr>
            </a:lstStyle>
            <a:p>
              <a:pPr/>
              <a:r>
                <a:t>MVP modular core        →        extract measured hotspots        →        country cells / regional platform</a:t>
              </a:r>
            </a:p>
          </p:txBody>
        </p:sp>
      </p:grpSp>
      <p:sp>
        <p:nvSpPr>
          <p:cNvPr id="128" name="Rounded Rectangle"/>
          <p:cNvSpPr/>
          <p:nvPr/>
        </p:nvSpPr>
        <p:spPr>
          <a:xfrm>
            <a:off x="245386" y="3737031"/>
            <a:ext cx="8649228" cy="1113626"/>
          </a:xfrm>
          <a:prstGeom prst="roundRect">
            <a:avLst>
              <a:gd name="adj" fmla="val 10211"/>
            </a:avLst>
          </a:prstGeom>
          <a:solidFill>
            <a:srgbClr val="203864"/>
          </a:solidFill>
          <a:ln w="12700">
            <a:solidFill>
              <a:srgbClr val="5B9BD5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29" name="УТВЕРДИТЬ СЕГОДНЯ…"/>
          <p:cNvSpPr txBox="1"/>
          <p:nvPr/>
        </p:nvSpPr>
        <p:spPr>
          <a:xfrm>
            <a:off x="285357" y="3777002"/>
            <a:ext cx="8569286" cy="10336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89999" tIns="89999" rIns="89999" bIns="89999">
            <a:normAutofit fontScale="100000" lnSpcReduction="0"/>
          </a:bodyPr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УТВЕРДИТЬ СЕГОДНЯ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1  Минимальные границы MVP     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2  Расчет стоимости обеспечения доступности конкретных сервисов     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3  Запуск с приоритетом на партнеров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